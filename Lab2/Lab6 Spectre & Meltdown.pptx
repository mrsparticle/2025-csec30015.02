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3"/>
    <p:sldId id="257" r:id="rId4"/>
    <p:sldId id="265" r:id="rId5"/>
    <p:sldId id="259" r:id="rId6"/>
    <p:sldId id="266" r:id="rId7"/>
    <p:sldId id="260" r:id="rId8"/>
    <p:sldId id="261" r:id="rId9"/>
    <p:sldId id="267" r:id="rId10"/>
    <p:sldId id="258" r:id="rId11"/>
    <p:sldId id="264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81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24B95-3765-4FCF-ADCC-1E38AB8F225A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EBA52-3698-4898-AF8E-D330F3FDA6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24B95-3765-4FCF-ADCC-1E38AB8F225A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EBA52-3698-4898-AF8E-D330F3FDA6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24B95-3765-4FCF-ADCC-1E38AB8F225A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EBA52-3698-4898-AF8E-D330F3FDA6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24B95-3765-4FCF-ADCC-1E38AB8F225A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EBA52-3698-4898-AF8E-D330F3FDA6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24B95-3765-4FCF-ADCC-1E38AB8F225A}" type="datetimeFigureOut">
              <a:rPr lang="en-US" smtClean="0"/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EBA52-3698-4898-AF8E-D330F3FDA6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24B95-3765-4FCF-ADCC-1E38AB8F225A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EBA52-3698-4898-AF8E-D330F3FDA6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24B95-3765-4FCF-ADCC-1E38AB8F225A}" type="datetimeFigureOut">
              <a:rPr lang="en-US" smtClean="0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EBA52-3698-4898-AF8E-D330F3FDA6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24B95-3765-4FCF-ADCC-1E38AB8F225A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EBA52-3698-4898-AF8E-D330F3FDA6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24B95-3765-4FCF-ADCC-1E38AB8F225A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EBA52-3698-4898-AF8E-D330F3FDA6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24B95-3765-4FCF-ADCC-1E38AB8F225A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EBA52-3698-4898-AF8E-D330F3FDA6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24B95-3765-4FCF-ADCC-1E38AB8F225A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EBA52-3698-4898-AF8E-D330F3FDA6A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24B95-3765-4FCF-ADCC-1E38AB8F225A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EBA52-3698-4898-AF8E-D330F3FDA6A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Spectre &amp; Meltdown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Preliminary (Task 1&amp;2)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Flush+Reload</a:t>
            </a:r>
            <a:r>
              <a:rPr lang="en-US" altLang="zh-CN" dirty="0"/>
              <a:t> Attack</a:t>
            </a:r>
            <a:endParaRPr lang="en-US" altLang="zh-CN" dirty="0"/>
          </a:p>
          <a:p>
            <a:pPr lvl="1"/>
            <a:r>
              <a:rPr lang="en-US" altLang="zh-CN" dirty="0"/>
              <a:t>Check if a cache line is in cache</a:t>
            </a:r>
            <a:endParaRPr lang="en-US" altLang="zh-CN" dirty="0"/>
          </a:p>
          <a:p>
            <a:pPr lvl="1"/>
            <a:r>
              <a:rPr lang="en-US" dirty="0"/>
              <a:t>A commonly seen side channel</a:t>
            </a:r>
            <a:endParaRPr lang="en-US" dirty="0"/>
          </a:p>
          <a:p>
            <a:r>
              <a:rPr lang="en-US" dirty="0"/>
              <a:t>Flush:</a:t>
            </a:r>
            <a:endParaRPr lang="en-US" dirty="0"/>
          </a:p>
          <a:p>
            <a:pPr lvl="1"/>
            <a:r>
              <a:rPr lang="en-US" dirty="0"/>
              <a:t>Using _</a:t>
            </a:r>
            <a:r>
              <a:rPr lang="en-US" dirty="0" err="1"/>
              <a:t>mm_clflush</a:t>
            </a:r>
            <a:r>
              <a:rPr lang="en-US" dirty="0"/>
              <a:t> to force CPU to evict cache to lower level(maybe memory).</a:t>
            </a:r>
            <a:endParaRPr lang="en-US" dirty="0"/>
          </a:p>
          <a:p>
            <a:pPr lvl="1"/>
            <a:r>
              <a:rPr lang="en-US" dirty="0"/>
              <a:t>Flushing the </a:t>
            </a:r>
            <a:r>
              <a:rPr lang="en-US" i="1" dirty="0"/>
              <a:t>array</a:t>
            </a:r>
            <a:endParaRPr lang="en-US" i="1" dirty="0"/>
          </a:p>
          <a:p>
            <a:r>
              <a:rPr lang="en-US" dirty="0"/>
              <a:t>Reload:</a:t>
            </a:r>
            <a:endParaRPr lang="en-US" dirty="0"/>
          </a:p>
          <a:p>
            <a:pPr lvl="1"/>
            <a:r>
              <a:rPr lang="en-US" dirty="0"/>
              <a:t>Measure the time spent for each memory access</a:t>
            </a:r>
            <a:endParaRPr lang="en-US" dirty="0"/>
          </a:p>
          <a:p>
            <a:pPr lvl="1"/>
            <a:r>
              <a:rPr lang="en-US" dirty="0"/>
              <a:t>The fastest one should be just accessed by the victim.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Preliminary (Task 1&amp;2)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Flushing the array.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Access some elements of the array</a:t>
            </a:r>
            <a:endParaRPr lang="en-US" dirty="0"/>
          </a:p>
          <a:p>
            <a:r>
              <a:rPr lang="en-US" dirty="0"/>
              <a:t>Reload the array and measure the time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819" y="2428735"/>
            <a:ext cx="9192908" cy="10002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790" y="4924205"/>
            <a:ext cx="6904621" cy="12527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Module (Task 3)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Kernel module is part of kernel</a:t>
            </a:r>
            <a:endParaRPr lang="en-US" dirty="0"/>
          </a:p>
          <a:p>
            <a:pPr lvl="1"/>
            <a:r>
              <a:rPr lang="en-US" altLang="zh-CN" dirty="0"/>
              <a:t>It’s not a thread. It creates a file under the proc directory.</a:t>
            </a:r>
            <a:endParaRPr lang="en-US" altLang="zh-CN" dirty="0"/>
          </a:p>
          <a:p>
            <a:pPr lvl="1"/>
            <a:r>
              <a:rPr lang="en-US" dirty="0"/>
              <a:t>It registers file open handler. The handler will be called on reading the file.</a:t>
            </a:r>
            <a:endParaRPr lang="en-US" dirty="0"/>
          </a:p>
          <a:p>
            <a:r>
              <a:rPr lang="en-US" dirty="0"/>
              <a:t>The module puts a string in </a:t>
            </a:r>
            <a:r>
              <a:rPr lang="en-US" dirty="0" err="1">
                <a:solidFill>
                  <a:srgbClr val="FF0000"/>
                </a:solidFill>
              </a:rPr>
              <a:t>secret_buffer</a:t>
            </a:r>
            <a:r>
              <a:rPr lang="en-US" dirty="0"/>
              <a:t>, and print the address.</a:t>
            </a:r>
            <a:endParaRPr lang="en-US" dirty="0"/>
          </a:p>
          <a:p>
            <a:pPr lvl="1"/>
            <a:r>
              <a:rPr lang="en-US" dirty="0"/>
              <a:t>This is done in the </a:t>
            </a:r>
            <a:r>
              <a:rPr lang="en-US" dirty="0" err="1"/>
              <a:t>init</a:t>
            </a:r>
            <a:r>
              <a:rPr lang="en-US" dirty="0"/>
              <a:t> phase.</a:t>
            </a:r>
            <a:endParaRPr lang="en-US" dirty="0"/>
          </a:p>
          <a:p>
            <a:r>
              <a:rPr lang="en-US" dirty="0"/>
              <a:t>You may check the address via </a:t>
            </a:r>
            <a:r>
              <a:rPr lang="en-US" dirty="0" err="1"/>
              <a:t>dmesg</a:t>
            </a:r>
            <a:endParaRPr lang="en-US" dirty="0"/>
          </a:p>
          <a:p>
            <a:pPr lvl="1"/>
            <a:r>
              <a:rPr lang="en-US" dirty="0" err="1"/>
              <a:t>printk</a:t>
            </a:r>
            <a:r>
              <a:rPr lang="en-US" dirty="0"/>
              <a:t> is the </a:t>
            </a:r>
            <a:r>
              <a:rPr lang="en-US" dirty="0" err="1"/>
              <a:t>printf</a:t>
            </a:r>
            <a:r>
              <a:rPr lang="en-US" dirty="0"/>
              <a:t>() in kernel</a:t>
            </a:r>
            <a:endParaRPr lang="en-US" dirty="0"/>
          </a:p>
          <a:p>
            <a:pPr lvl="1"/>
            <a:r>
              <a:rPr lang="en-US" dirty="0"/>
              <a:t>It stores string in a piece of buffer</a:t>
            </a:r>
            <a:endParaRPr lang="en-US" dirty="0"/>
          </a:p>
          <a:p>
            <a:pPr lvl="1"/>
            <a:r>
              <a:rPr lang="en-US" dirty="0" err="1"/>
              <a:t>dmesg</a:t>
            </a:r>
            <a:r>
              <a:rPr lang="en-US" dirty="0"/>
              <a:t> fetches the buffer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the secret (Task 4)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know the address of the secret.</a:t>
            </a:r>
            <a:endParaRPr lang="en-US" dirty="0"/>
          </a:p>
          <a:p>
            <a:pPr lvl="1"/>
            <a:r>
              <a:rPr lang="en-US" dirty="0"/>
              <a:t>It is shown in </a:t>
            </a:r>
            <a:r>
              <a:rPr lang="en-US" dirty="0" err="1"/>
              <a:t>dmesg</a:t>
            </a:r>
            <a:r>
              <a:rPr lang="en-US" dirty="0"/>
              <a:t>.</a:t>
            </a:r>
            <a:endParaRPr lang="en-US" dirty="0"/>
          </a:p>
          <a:p>
            <a:r>
              <a:rPr lang="en-US" dirty="0"/>
              <a:t>However, you cannot dereference it.</a:t>
            </a:r>
            <a:endParaRPr lang="en-US" dirty="0"/>
          </a:p>
          <a:p>
            <a:pPr lvl="1"/>
            <a:r>
              <a:rPr lang="en-US" dirty="0"/>
              <a:t>For kernel addresses, the privilege bit of the PTE is set</a:t>
            </a:r>
            <a:endParaRPr lang="en-US" dirty="0"/>
          </a:p>
          <a:p>
            <a:pPr lvl="1"/>
            <a:r>
              <a:rPr lang="en-US" dirty="0"/>
              <a:t>Page fault will be triggered.</a:t>
            </a:r>
            <a:endParaRPr lang="en-US" dirty="0"/>
          </a:p>
          <a:p>
            <a:pPr lvl="1"/>
            <a:r>
              <a:rPr lang="en-US" dirty="0"/>
              <a:t>Your process will be killed by default.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Handling in C (Task 5)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 to implement C style exception handling</a:t>
            </a:r>
            <a:endParaRPr lang="en-US" dirty="0"/>
          </a:p>
          <a:p>
            <a:pPr lvl="1"/>
            <a:r>
              <a:rPr lang="en-US" dirty="0"/>
              <a:t>We already covered in lecture</a:t>
            </a:r>
            <a:endParaRPr lang="en-US" dirty="0"/>
          </a:p>
          <a:p>
            <a:r>
              <a:rPr lang="en-US" dirty="0"/>
              <a:t>By </a:t>
            </a:r>
            <a:r>
              <a:rPr lang="en-US" dirty="0" err="1"/>
              <a:t>setjump</a:t>
            </a:r>
            <a:r>
              <a:rPr lang="en-US" dirty="0"/>
              <a:t> and long jump</a:t>
            </a:r>
            <a:endParaRPr lang="en-US" dirty="0"/>
          </a:p>
        </p:txBody>
      </p:sp>
      <p:pic>
        <p:nvPicPr>
          <p:cNvPr id="4" name="Picture 2" descr="让C 支持try-catch - 掘金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089" y="3578016"/>
            <a:ext cx="4472365" cy="2769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Meltdown (Task7)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Getting secret cached</a:t>
            </a:r>
            <a:endParaRPr lang="en-US" dirty="0"/>
          </a:p>
          <a:p>
            <a:pPr lvl="1"/>
            <a:r>
              <a:rPr lang="en-US" dirty="0"/>
              <a:t>Read it by reading the </a:t>
            </a:r>
            <a:r>
              <a:rPr lang="en-US" dirty="0" err="1"/>
              <a:t>proc</a:t>
            </a:r>
            <a:r>
              <a:rPr lang="en-US" dirty="0"/>
              <a:t> file.</a:t>
            </a:r>
            <a:endParaRPr lang="en-US" dirty="0"/>
          </a:p>
          <a:p>
            <a:pPr lvl="1"/>
            <a:r>
              <a:rPr lang="en-US" dirty="0"/>
              <a:t>Although the string is not returned to userspace, it is in cache.</a:t>
            </a:r>
            <a:endParaRPr lang="en-US" dirty="0"/>
          </a:p>
          <a:p>
            <a:pPr lvl="1"/>
            <a:r>
              <a:rPr lang="en-US" altLang="zh-CN" dirty="0"/>
              <a:t>It is cached in the core reading the file, which may be different from the core running victim program. You may use taskset to make them the same.</a:t>
            </a:r>
            <a:endParaRPr lang="en-US" dirty="0"/>
          </a:p>
          <a:p>
            <a:r>
              <a:rPr lang="en-US" dirty="0"/>
              <a:t>Block ALU</a:t>
            </a:r>
            <a:endParaRPr lang="en-US" dirty="0"/>
          </a:p>
          <a:p>
            <a:pPr lvl="1"/>
            <a:r>
              <a:rPr lang="en-US" dirty="0"/>
              <a:t>Try add some junk calculations before the kernel address accessing.</a:t>
            </a:r>
            <a:endParaRPr lang="en-US" dirty="0"/>
          </a:p>
          <a:p>
            <a:pPr lvl="1"/>
            <a:r>
              <a:rPr lang="en-US" dirty="0"/>
              <a:t>So the ALU resources are amortized, and the fault will be triggered later.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 8: Make it more accurate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Run meltdown multiple times for an address.</a:t>
            </a:r>
            <a:endParaRPr lang="en-US" altLang="zh-CN" dirty="0"/>
          </a:p>
          <a:p>
            <a:r>
              <a:rPr lang="en-US" altLang="zh-CN" dirty="0"/>
              <a:t>If our attack program thinks k is the secret, scores[k] is increased by 1.</a:t>
            </a:r>
            <a:endParaRPr lang="en-US" altLang="zh-CN" dirty="0"/>
          </a:p>
          <a:p>
            <a:r>
              <a:rPr lang="en-US" altLang="zh-CN" dirty="0"/>
              <a:t>Make final decision according to the scores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Bonus</a:t>
            </a:r>
            <a:r>
              <a:rPr lang="en-US" dirty="0"/>
              <a:t> - Meltdown w/o </a:t>
            </a:r>
            <a:r>
              <a:rPr lang="en-US" dirty="0" err="1"/>
              <a:t>clflush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_</a:t>
            </a:r>
            <a:r>
              <a:rPr lang="en-US" dirty="0" err="1"/>
              <a:t>mm_clflush</a:t>
            </a:r>
            <a:r>
              <a:rPr lang="en-US" dirty="0"/>
              <a:t> invokes CLFLUSH instruction</a:t>
            </a:r>
            <a:endParaRPr lang="en-US" dirty="0"/>
          </a:p>
          <a:p>
            <a:pPr lvl="1"/>
            <a:r>
              <a:rPr lang="en-US" dirty="0"/>
              <a:t>Userspace CLFLUSH </a:t>
            </a:r>
            <a:r>
              <a:rPr lang="en-US" altLang="zh-CN" dirty="0">
                <a:solidFill>
                  <a:srgbClr val="FF0000"/>
                </a:solidFill>
              </a:rPr>
              <a:t>CAN</a:t>
            </a:r>
            <a:r>
              <a:rPr lang="en-US" altLang="zh-CN" dirty="0"/>
              <a:t> be disabled</a:t>
            </a:r>
            <a:endParaRPr lang="en-US" altLang="zh-CN" dirty="0"/>
          </a:p>
          <a:p>
            <a:pPr lvl="1"/>
            <a:r>
              <a:rPr lang="en-US" altLang="zh-CN" dirty="0"/>
              <a:t>Kernel can disable it by setting special registers.</a:t>
            </a:r>
            <a:endParaRPr lang="en-US" altLang="zh-CN" dirty="0"/>
          </a:p>
          <a:p>
            <a:pPr lvl="1"/>
            <a:r>
              <a:rPr lang="en-US" altLang="zh-CN" dirty="0"/>
              <a:t>So, you may not be able to flush cache in some cases.</a:t>
            </a:r>
            <a:endParaRPr lang="en-US" altLang="zh-CN" dirty="0"/>
          </a:p>
          <a:p>
            <a:r>
              <a:rPr lang="en-US" dirty="0"/>
              <a:t>Try to </a:t>
            </a:r>
            <a:r>
              <a:rPr lang="en-US" dirty="0">
                <a:solidFill>
                  <a:srgbClr val="FF0000"/>
                </a:solidFill>
              </a:rPr>
              <a:t>flush</a:t>
            </a:r>
            <a:r>
              <a:rPr lang="en-US" dirty="0"/>
              <a:t> cache by cache eviction</a:t>
            </a:r>
            <a:endParaRPr lang="en-US" dirty="0"/>
          </a:p>
          <a:p>
            <a:pPr lvl="1"/>
            <a:r>
              <a:rPr lang="en-US" dirty="0"/>
              <a:t>Filling cache set by junk lines, so cache is cleared.</a:t>
            </a:r>
            <a:endParaRPr lang="en-US" dirty="0"/>
          </a:p>
          <a:p>
            <a:pPr lvl="1"/>
            <a:r>
              <a:rPr lang="en-US" dirty="0"/>
              <a:t>Assuming LRU algorithm used by the CPU.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 – Attack w/o </a:t>
            </a:r>
            <a:r>
              <a:rPr lang="en-US" dirty="0" err="1"/>
              <a:t>clflush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Try to use cache eviction to accurately flush </a:t>
            </a:r>
            <a:r>
              <a:rPr lang="en-US" i="1" dirty="0"/>
              <a:t>size </a:t>
            </a:r>
            <a:r>
              <a:rPr lang="en-US" dirty="0"/>
              <a:t>and</a:t>
            </a:r>
            <a:r>
              <a:rPr lang="en-US" i="1" dirty="0"/>
              <a:t> array.</a:t>
            </a:r>
            <a:endParaRPr lang="en-US" i="1" dirty="0"/>
          </a:p>
          <a:p>
            <a:r>
              <a:rPr lang="en-US" dirty="0"/>
              <a:t>Try to find an eviction set</a:t>
            </a:r>
            <a:endParaRPr lang="en-US" dirty="0"/>
          </a:p>
          <a:p>
            <a:pPr lvl="1"/>
            <a:r>
              <a:rPr lang="en-US" dirty="0"/>
              <a:t>Accessing all the addresses in the set causes flushing the whole set</a:t>
            </a:r>
            <a:endParaRPr lang="en-US" dirty="0"/>
          </a:p>
          <a:p>
            <a:pPr lvl="1"/>
            <a:r>
              <a:rPr lang="en-US" dirty="0"/>
              <a:t>Each core of our server has 1MB L2, which has 16 ways and 1024 sets.</a:t>
            </a:r>
            <a:endParaRPr lang="en-US" dirty="0"/>
          </a:p>
          <a:p>
            <a:pPr lvl="1"/>
            <a:r>
              <a:rPr lang="en-US" dirty="0"/>
              <a:t>Addresses with the same set index will be mapped into the same set.</a:t>
            </a:r>
            <a:endParaRPr lang="en-US" dirty="0"/>
          </a:p>
          <a:p>
            <a:pPr lvl="1"/>
            <a:r>
              <a:rPr lang="en-US" dirty="0"/>
              <a:t>So the eviction set has at least 16 addresses, mapping into the same set with the address to be flushed.</a:t>
            </a:r>
            <a:endParaRPr lang="en-US" dirty="0"/>
          </a:p>
          <a:p>
            <a:r>
              <a:rPr lang="en-US" dirty="0"/>
              <a:t>Try to know the set of an address</a:t>
            </a:r>
            <a:endParaRPr lang="en-US" dirty="0"/>
          </a:p>
          <a:p>
            <a:pPr lvl="1"/>
            <a:r>
              <a:rPr lang="en-US" dirty="0"/>
              <a:t>Normally, you cannot get the physical addresses.</a:t>
            </a:r>
            <a:endParaRPr lang="en-US" dirty="0"/>
          </a:p>
          <a:p>
            <a:pPr lvl="1"/>
            <a:r>
              <a:rPr lang="en-US" dirty="0"/>
              <a:t>But if you use 2M huge page, the lower 20 bits will be the same for physical and virtual addresses.</a:t>
            </a:r>
            <a:endParaRPr lang="en-US" dirty="0"/>
          </a:p>
          <a:p>
            <a:pPr lvl="1"/>
            <a:r>
              <a:rPr lang="en-US" dirty="0"/>
              <a:t>Try to make array and size in huge page.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8550" y="4086261"/>
            <a:ext cx="3976878" cy="7591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Spectre – Bra</a:t>
            </a:r>
            <a:r>
              <a:rPr lang="en-US" altLang="zh-CN" dirty="0"/>
              <a:t>nch Prediction (Task 3 &amp; 4)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Firstly Train the branch predictor to </a:t>
            </a:r>
            <a:r>
              <a:rPr lang="en-US" dirty="0">
                <a:solidFill>
                  <a:srgbClr val="FF0000"/>
                </a:solidFill>
              </a:rPr>
              <a:t>True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Legally invoke victim() 10 times</a:t>
            </a:r>
            <a:endParaRPr lang="en-US" dirty="0"/>
          </a:p>
          <a:p>
            <a:r>
              <a:rPr lang="en-US" dirty="0"/>
              <a:t>Use victim() to access an illegal line</a:t>
            </a:r>
            <a:endParaRPr lang="en-US" dirty="0"/>
          </a:p>
          <a:p>
            <a:pPr lvl="1"/>
            <a:r>
              <a:rPr lang="en-US" dirty="0"/>
              <a:t>Flush </a:t>
            </a:r>
            <a:r>
              <a:rPr lang="en-US" i="1" dirty="0"/>
              <a:t>size</a:t>
            </a:r>
            <a:endParaRPr lang="en-US" i="1" dirty="0"/>
          </a:p>
          <a:p>
            <a:pPr lvl="1"/>
            <a:r>
              <a:rPr lang="en-US" dirty="0"/>
              <a:t>So the check runs slowly</a:t>
            </a:r>
            <a:endParaRPr lang="en-US" dirty="0"/>
          </a:p>
          <a:p>
            <a:r>
              <a:rPr lang="en-US" dirty="0"/>
              <a:t>Reload to measure time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5 Improving the accuracy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the attack multiple times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3083</Words>
  <Application>WPS 演示</Application>
  <PresentationFormat>宽屏</PresentationFormat>
  <Paragraphs>106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Calibri Light</vt:lpstr>
      <vt:lpstr>Calibri</vt:lpstr>
      <vt:lpstr>微软雅黑</vt:lpstr>
      <vt:lpstr>Arial Unicode MS</vt:lpstr>
      <vt:lpstr>等线 Light</vt:lpstr>
      <vt:lpstr>等线</vt:lpstr>
      <vt:lpstr>Office 主题​​</vt:lpstr>
      <vt:lpstr>Spectra &amp; Meltdown</vt:lpstr>
      <vt:lpstr>Preliminary (Task 1&amp;2)</vt:lpstr>
      <vt:lpstr>Preliminary (Task 1&amp;2)</vt:lpstr>
      <vt:lpstr>Kernel Module (Task 3)</vt:lpstr>
      <vt:lpstr>Access the secret (Task 4)</vt:lpstr>
      <vt:lpstr>Exception Handling in C (Task 5)</vt:lpstr>
      <vt:lpstr>Meltdown (Task7)</vt:lpstr>
      <vt:lpstr>Task 8: Make it more accurate</vt:lpstr>
      <vt:lpstr>Bonus - Meltdown w/o clflush</vt:lpstr>
      <vt:lpstr>Bonus – Attack w/o clflush</vt:lpstr>
      <vt:lpstr>Spectra – Branch Prediction (Task 3 &amp; 4)</vt:lpstr>
      <vt:lpstr>Task 5 Improving the accuracy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Meltdown</dc:title>
  <dc:creator>ZHOU, Zhe</dc:creator>
  <cp:lastModifiedBy>周喆</cp:lastModifiedBy>
  <cp:revision>17</cp:revision>
  <dcterms:created xsi:type="dcterms:W3CDTF">2021-11-29T02:28:00Z</dcterms:created>
  <dcterms:modified xsi:type="dcterms:W3CDTF">2025-11-10T03:00:26Z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FB39415B30CB4FD99D20832854105F9B_12</vt:lpwstr>
  </property>
  <property fmtid="{D5CDD505-2E9C-101B-9397-08002B2CF9AE}" pid="3" name="KSOProductBuildVer">
    <vt:lpwstr>2052-12.1.0.23542</vt:lpwstr>
  </property>
</Properties>
</file>